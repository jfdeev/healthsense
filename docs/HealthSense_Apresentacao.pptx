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029200" cy="5029200"/>
          </a:xfrm>
          <a:prstGeom prst="ellipse">
            <a:avLst/>
          </a:prstGeom>
          <a:solidFill>
            <a:srgbClr val="6D4FD1">
              <a:alpha val="22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291840"/>
            <a:ext cx="4206240" cy="4206240"/>
          </a:xfrm>
          <a:prstGeom prst="ellipse">
            <a:avLst/>
          </a:prstGeom>
          <a:solidFill>
            <a:srgbClr val="0E9C8A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CESUPA · INTELIGÊNCIA ARTIFICIAL E COMPUTACIONAL · 2026/1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0058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HealthSense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9808" y="329184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Success para SaaS B2B, guiado por Inteligência Artificial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2697480" cy="457200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11480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1 · Fuzzy (Parte 1)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4114800"/>
            <a:ext cx="3063240" cy="457200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411480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2 · Evolutivo (Parte 2)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5285232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Prof. Daniel Leal Souza   ·   Turma: [CC5MA / CC5NA]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596128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Equipe: João Felipe Soares · Pedro Lyra · Paulo Ricardo · Murilo Carneiro · Vithor dos Santos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948233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948233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GLOSSÁRIO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siglas e termos, em uma página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SaaS B2B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18541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por assinatura vendido para empresas (Software as a Service, Business to Business).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7830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187452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Playbook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185416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"Jogada" pronta do time: reunião estratégica, treinamento, mutirão de suporte ou cobrança.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807208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807208"/>
            <a:ext cx="73152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89864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320954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Success Manager — quem cuida de manter e crescer os clientes (o "personal trainer das contas").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63640" y="2807208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2807208"/>
            <a:ext cx="73152" cy="9144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289864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92240" y="3209544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Health Score — nota de 0 a 100 da saúde do cliente. É a saída do Módulo 1 (fuzzy).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831336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3831336"/>
            <a:ext cx="73152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9227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77240" y="423367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Cancelamento da assinatura pelo cliente — exatamente o que o time quer evitar.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63640" y="3831336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3831336"/>
            <a:ext cx="73152" cy="9144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392277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92240" y="423367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Promoter Score — nota de satisfação do cliente, de 0 a 10 (detrator a promotor).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855464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4855464"/>
            <a:ext cx="73152" cy="9144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9469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MRR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724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Recurring Revenue — quanto o cliente paga por mês; MRR alto vale mais a pena salvar.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63640" y="4855464"/>
            <a:ext cx="5376672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263640" y="4855464"/>
            <a:ext cx="73152" cy="9144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94690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6492240" y="5257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Genético — o "planejador inteligente" que monta o melhor plano de ação (Módulo 2).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863194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86319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Success vive de reter e expandir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64008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SaaS B2B vive de receita recorrente (MRR): reter e expandir vale mais que adquirir.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CSM gerencia carteiras grandes — o recurso escasso é o tempo do time.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Decisões diárias: quem está em risco de churn? quem pode crescer? onde agir primeiro?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sinais são imprecisos e graduais — a saúde de um cliente não é 'sim ou não'.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2326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0" y="1828800"/>
            <a:ext cx="73152" cy="39319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Inteligência Artificial?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589520" y="2606040"/>
            <a:ext cx="3794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Lógica Fuzzy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lida com gradação e incerteza — traduz sinais difusos em um score interpretável.
</a:t>
            </a:r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Computação Evolutiva
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otimiza decisões sob restrição — onde investir as horas para o maior retorno.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43507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54350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VISÃO DO PRODUTO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 produto, dois módulos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73152" cy="2286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65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📊  Módulo 1 — Customer Health Score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Fuzzy Mamdani. Pontua a saúde de cada cliente (0–100) a partir de 5 sinais, com 32 regras interpretáveis.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Responde: quão saudável está cada cliente?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172200" y="1783080"/>
            <a:ext cx="73152" cy="22860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965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🧬  Módulo 2 — Allocator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246888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Genético. Decide qual CSM atende qual cliente com qual playbook, para maximizar a receita retida/expandida.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35204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Responde: com horas limitadas, qual o melhor plano de ação?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22960" y="46634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8893A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2960" y="4663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Sinais do cliente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29184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749040" y="46634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749040" y="4663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1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CHS (fuzzy)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675120" y="46634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4663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Módulo 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Allocator (AG)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601200" y="4663440"/>
            <a:ext cx="2468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601200" y="4663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 de ação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conexão: o Allocator usa o motor fuzzy como função de aptidão — pergunta "quanto esta ação melhora a saúde?" e o fuzzy responde.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2743200"/>
            <a:ext cx="5486400" cy="5486400"/>
          </a:xfrm>
          <a:prstGeom prst="ellipse">
            <a:avLst/>
          </a:prstGeom>
          <a:solidFill>
            <a:srgbClr val="6D4FD1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Health Score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de Controle Fuzzy (Mamdani)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13586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71358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CONTEXTO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é o Customer Health Score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 indicador de 0 a 100 que resume a saúde de uma conta numa só leitura.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Usado por CSMs para priorizar a carteira: quem salvar, quem expandir, quem manter.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Tradicionalmente é uma soma de pesos fixos — frágil e arbitrária.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Aqui ele é um sistema fuzzy: combina os sinais como um especialista raciocinaria.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2326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0" y="1828800"/>
            <a:ext cx="73152" cy="393192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fuzzy e não regras rígidas?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2651760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Graus de verdade (0 a 1), não só sim/não.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Transições suaves: 30 ≈ 31 dias de atraso.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Regras em linguagem natural.</a:t>
            </a:r>
            <a:endParaRPr lang="en-US" sz="1350" dirty="0"/>
          </a:p>
          <a:p>
            <a:pPr marL="177800" indent="-177800">
              <a:lnSpc>
                <a:spcPct val="102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Explicável: cada score se justifica.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98625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79862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MODELAGEM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entradas, 1 saída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286000"/>
                <a:gridCol w="62179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117"/>
                          </a:solidFill>
                        </a:rPr>
                        <a:t>Variável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8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117"/>
                          </a:solidFill>
                        </a:rPr>
                        <a:t>Universo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8B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1117"/>
                          </a:solidFill>
                        </a:rPr>
                        <a:t>Termos linguísticos</a:t>
                      </a:r>
                      <a:endParaRPr lang="en-US" sz="130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78B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8FAFC"/>
                          </a:solidFill>
                        </a:rPr>
                        <a:t>Engajamento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0–100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Baixo · Moderado · Alto · Muito Alto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8FAFC"/>
                          </a:solidFill>
                        </a:rPr>
                        <a:t>Volume de suporte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0–30 tickets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Saudável · Atenção · Alto · Crítico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8FAFC"/>
                          </a:solidFill>
                        </a:rPr>
                        <a:t>Satisfação (NPS)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0–10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Detrator · Neutro · Promotor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8FAFC"/>
                          </a:solidFill>
                        </a:rPr>
                        <a:t>Saúde financeira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0–90 dias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Em dia · Atraso leve · Atraso grave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8FAFC"/>
                          </a:solidFill>
                        </a:rPr>
                        <a:t>Tenure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0–60 meses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C7D0DE"/>
                          </a:solidFill>
                        </a:rPr>
                        <a:t>Novo · Estabelecido · Veterano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A78BFA"/>
                          </a:solidFill>
                        </a:rPr>
                        <a:t>Saída: CHS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A78BFA"/>
                          </a:solidFill>
                        </a:rPr>
                        <a:t>0–100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A78BFA"/>
                          </a:solidFill>
                        </a:rPr>
                        <a:t>Crítico · Em Risco · Atenção · Saudável · Promotor</a:t>
                      </a:r>
                      <a:endParaRPr lang="en-US" sz="1250" dirty="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variável tem papel explícito; os termos linguísticos são os conjuntos fuzzy de cada uma.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98625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79862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MODELAGEM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Funções de pertinência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Trapezoidais nos extremos (saturam) · triangulares no meio · gaussianas na saída (centróide estável).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623560" cy="3749040"/>
          </a:xfrm>
          <a:prstGeom prst="roundRect">
            <a:avLst>
              <a:gd name="adj" fmla="val 2439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C:/Users/dti-/Desktop/healthsense/assets/parte1/mf_plots/engajament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148840"/>
            <a:ext cx="5349240" cy="3383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63640" y="1965960"/>
            <a:ext cx="5623560" cy="3749040"/>
          </a:xfrm>
          <a:prstGeom prst="roundRect">
            <a:avLst>
              <a:gd name="adj" fmla="val 2439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dti-/Desktop/healthsense/assets/parte1/mf_plots/ch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2148840"/>
            <a:ext cx="534924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INFERÊNCIA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o sistema decide (Mamdani)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2103120"/>
            <a:ext cx="73152" cy="173736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33172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Fuzzificação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valor → graus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5176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2843784" y="21031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43784" y="2103120"/>
            <a:ext cx="73152" cy="173736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72384" y="233172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72384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026664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Regras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026664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= mínimo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55464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047488" y="21031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47488" y="2103120"/>
            <a:ext cx="73152" cy="173736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76088" y="233172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76088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230368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Implicação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0368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recorta saída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059168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7251192" y="21031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251192" y="2103120"/>
            <a:ext cx="73152" cy="173736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79792" y="233172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79792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34072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Agregação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434072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= máximo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9262872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9454896" y="21031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454896" y="2103120"/>
            <a:ext cx="73152" cy="173736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83496" y="2331720"/>
            <a:ext cx="457200" cy="457200"/>
          </a:xfrm>
          <a:prstGeom prst="ellipse">
            <a:avLst/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683496" y="2331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637776" y="29260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Centróide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37776" y="338328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 CHS final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40080" y="4297680"/>
            <a:ext cx="10927080" cy="1371600"/>
          </a:xfrm>
          <a:prstGeom prst="roundRect">
            <a:avLst>
              <a:gd name="adj" fmla="val 6667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68680" y="4434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de 32 regras · 7 categorias: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86868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Crítico (4)   Em Risco (6)   Atenção (6)   Saudável (5)   Promotor (4)   </a:t>
            </a:r>
            <a:pPr indent="0" marL="0">
              <a:buNone/>
            </a:pPr>
            <a:r>
              <a:rPr lang="en-US" sz="13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Conflito (3) </a:t>
            </a:r>
            <a:pPr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Baseline (4)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86868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Conflito = exceções (ex.: power user inadimplente é rebaixado) · Baseline = cobertura total do espaço.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53742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05374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EXEMPLO REAL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Pontuando um cliente, passo a passo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749040" cy="3657600"/>
          </a:xfrm>
          <a:prstGeom prst="roundRect">
            <a:avLst>
              <a:gd name="adj" fmla="val 25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73152" cy="36576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03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Entrada (sinais)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60604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Engajamento: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Suporte: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tickets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NPS: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(detrator)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Atraso: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dias
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Tenure: </a:t>
            </a:r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meses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43434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46320" y="1920240"/>
            <a:ext cx="3749040" cy="3657600"/>
          </a:xfrm>
          <a:prstGeom prst="roundRect">
            <a:avLst>
              <a:gd name="adj" fmla="val 25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1920240"/>
            <a:ext cx="73152" cy="36576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74920" y="210312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Regras que disparam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260604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R8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[Risco]  grau 0,50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engaj. moderado + detrator
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R6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[Risco]  grau 0,40
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detrator + suporte alto
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R30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[Baseline] grau 0,50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64108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9144000" y="1920240"/>
            <a:ext cx="2468880" cy="3657600"/>
          </a:xfrm>
          <a:prstGeom prst="roundRect">
            <a:avLst>
              <a:gd name="adj" fmla="val 3704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0" y="1920240"/>
            <a:ext cx="73152" cy="36576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Saída (centróide)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0" y="274320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6400" dirty="0"/>
          </a:p>
        </p:txBody>
      </p:sp>
      <p:sp>
        <p:nvSpPr>
          <p:cNvPr id="19" name="Text 17"/>
          <p:cNvSpPr/>
          <p:nvPr/>
        </p:nvSpPr>
        <p:spPr>
          <a:xfrm>
            <a:off x="9144000" y="384048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555480" y="4297680"/>
            <a:ext cx="1645920" cy="502920"/>
          </a:xfrm>
          <a:prstGeom prst="roundRect">
            <a:avLst>
              <a:gd name="adj" fmla="val 49091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429768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Atenção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478938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47893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1 · VALIDAÇÃO + EXTRA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Sensibilidade (ampliação) e PSO (extra)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cenários + 16 testes automatizados. Ampliação: sensibilidade das MFs · Extra: PSO calibra os parâmetros.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5623560" cy="3749040"/>
          </a:xfrm>
          <a:prstGeom prst="roundRect">
            <a:avLst>
              <a:gd name="adj" fmla="val 2439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C:/Users/dti-/Desktop/healthsense/assets/parte1/sensibilida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" y="2148840"/>
            <a:ext cx="5349240" cy="33832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63640" y="1965960"/>
            <a:ext cx="5623560" cy="3749040"/>
          </a:xfrm>
          <a:prstGeom prst="roundRect">
            <a:avLst>
              <a:gd name="adj" fmla="val 2439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9" name="Image 1" descr="C:/Users/dti-/Desktop/healthsense/assets/parte1/pso_antes_depoi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2148840"/>
            <a:ext cx="5349240" cy="33832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2743200"/>
            <a:ext cx="5486400" cy="5486400"/>
          </a:xfrm>
          <a:prstGeom prst="ellipse">
            <a:avLst/>
          </a:prstGeom>
          <a:solidFill>
            <a:srgbClr val="0E9C8A">
              <a:alpha val="2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3657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" y="3931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Allocator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Algoritmo Genético com aptidão fuzzy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13586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71358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CONTEXTO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problema de alocação do time de 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6400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time tem capacidade limitada: cada CSM tem um orçamento de horas por ciclo.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cliente pode receber um playbook (intervenção) — ou nenhuma ação.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CSM tem uma especialidade que muda a eficácia do playbook.</a:t>
            </a:r>
            <a:endParaRPr lang="en-US" sz="1600" dirty="0"/>
          </a:p>
          <a:p>
            <a:pPr marL="177800" indent="-177800">
              <a:lnSpc>
                <a:spcPct val="102000"/>
              </a:lnSpc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Objetivo: escolher o conjunto de ações que maximiza a receita retida/expandida.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2326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0" y="1828800"/>
            <a:ext cx="73152" cy="393192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0" y="20574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ingredientes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2651760"/>
            <a:ext cx="37490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clientes (saúde + MRR)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CSMs (com especialidade)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playbooks (custo em horas)
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128 h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 capacidade total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635240" y="51663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Capacidade &lt; demanda → é preciso escolher.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FORMULAÇÃO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Modelagem: um problema de atribuição (GAP)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20240"/>
            <a:ext cx="73152" cy="22860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488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Variáveis de decisão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 cada cliente: o par (CSM, playbook) ou "nenhuma ação".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97680" y="1920240"/>
            <a:ext cx="73152" cy="2286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26280" y="21488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Função objetivo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26280" y="27432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Maximizar Σ MRR × (ΔCHS/100). O ΔCHS vem do motor fuzzy.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46720" y="19202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920240"/>
            <a:ext cx="73152" cy="22860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75320" y="21488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Restrições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27432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Soma de horas de cada CSM ≤ seu orçamento (reparo garante).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22960" y="461772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NP-difícil?  </a:t>
            </a:r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26^40 ≈ 10^56 combinações, múltiplas capacidades acopladas e objetivo fuzzy não-linear → programação linear não serve. O Algoritmo Genético navega esse espaço.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38782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1387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COMO FUNCIONA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solução = um plano (o cromossomo)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0B0E14"/>
          </a:solidFill>
          <a:ln w="12700">
            <a:solidFill>
              <a:srgbClr val="2DD4B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011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posição = um cliente   ·   o valor do gene = a ação escolhida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423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= [ 1,  1,  15,  0,  0,  0,  7,  24,  6,  21,  16,  12, … ]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73075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 = 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04164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 (Onboarding) · Onboarding Refresher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36118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480560" y="373075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 = 15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480560" y="404164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Carla (Retenção) · Billing &amp; Renewal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3611880"/>
            <a:ext cx="3611880" cy="914400"/>
          </a:xfrm>
          <a:prstGeom prst="roundRect">
            <a:avLst>
              <a:gd name="adj" fmla="val 10000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373075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893A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 = 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4041648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Nenhuma ação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7548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754880"/>
            <a:ext cx="73152" cy="9144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892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Exemplo de valor: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"Em risco-014" (CHS 34,7) + Executive Business Review pelo Bruno (Retenção, eficácia ×1,5) → CHS previsto +15,3 → valor = MRR × 15,3/100 = </a:t>
            </a:r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R$ 837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38782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13878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COMO FUNCIONA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o AG evolui o plano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População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planos aleatórios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21992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450592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50592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Avaliação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542032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fitness = fuzzy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23944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352544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52544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43984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Seleção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443984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torneio (k=3)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25896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6254496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54496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45936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Crossover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345936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uniforme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927848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8156448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56448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47888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Mutação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247888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 de ação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829800" y="2651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200" dirty="0"/>
          </a:p>
        </p:txBody>
      </p:sp>
      <p:sp>
        <p:nvSpPr>
          <p:cNvPr id="30" name="Shape 28"/>
          <p:cNvSpPr/>
          <p:nvPr/>
        </p:nvSpPr>
        <p:spPr>
          <a:xfrm>
            <a:off x="10058400" y="2194560"/>
            <a:ext cx="1783080" cy="1371600"/>
          </a:xfrm>
          <a:prstGeom prst="roundRect">
            <a:avLst>
              <a:gd name="adj" fmla="val 6667"/>
            </a:avLst>
          </a:prstGeom>
          <a:solidFill>
            <a:srgbClr val="232A3D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10058400" y="219456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149840" y="2395728"/>
            <a:ext cx="160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BBF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Reparo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0149840" y="2852928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respeita horas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↻  repete por gerações até estabilizar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48640" y="4297680"/>
            <a:ext cx="73152" cy="13716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2960" y="4480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Neste caso:  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AG convergiu em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121 gerações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gerando um plano que atende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dos 40 clientes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 soma </a:t>
            </a:r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R$ 9.747</a:t>
            </a:r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receita esperada — sem estourar o orçamento de nenhum CSM.</a:t>
            </a:r>
            <a:endParaRPr lang="en-US" sz="14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223821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22382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RESULTADO REAL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plano de ação que o AG gera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4937760"/>
                <a:gridCol w="914400"/>
                <a:gridCol w="914400"/>
                <a:gridCol w="1097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Cliente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CHS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Ação (CSM → Playbook)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ΔCHS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Horas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E1117"/>
                          </a:solidFill>
                        </a:rPr>
                        <a:t>Valor</a:t>
                      </a:r>
                      <a:endParaRPr lang="en-US" sz="12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D4B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Em risco-014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34,7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Bruno (Retenção) → Executive Business Review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4D399"/>
                          </a:solidFill>
                        </a:rPr>
                        <a:t>+15,3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8h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R$ 837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Fronteira-017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43,2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Ana (Onboarding) → Onboarding Refresher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4D399"/>
                          </a:solidFill>
                        </a:rPr>
                        <a:t>+26,3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4h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R$ 712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Em risco-008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31,8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Elena (Adoção) → Adoption Coaching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4D399"/>
                          </a:solidFill>
                        </a:rPr>
                        <a:t>+18,2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5h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R$ 687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Em risco-012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39,0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Carla (Retenção) → Executive Business Review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4D399"/>
                          </a:solidFill>
                        </a:rPr>
                        <a:t>+11,0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8h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R$ 596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Em risco-010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36,7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Elena (Adoção) → Onboarding Refresher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4D399"/>
                          </a:solidFill>
                        </a:rPr>
                        <a:t>+12,2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7D0DE"/>
                          </a:solidFill>
                        </a:rPr>
                        <a:t>4h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F8FAFC"/>
                          </a:solidFill>
                        </a:rPr>
                        <a:t>R$ 516</a:t>
                      </a:r>
                      <a:endParaRPr lang="en-US" sz="115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C344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030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estratégia que emergiu:  </a:t>
            </a:r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AG concentra horas em contas Em Risco e de Fronteira de alto MRR (onde o ΔCHS é maior) e roteia cada playbook ao CSM da especialidade certa.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83664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8836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RESULTADOS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AG supera os métodos simples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 9.718  </a:t>
            </a:r>
            <a:pPr indent="0" marL="0">
              <a:buNone/>
            </a:pPr>
            <a:r>
              <a:rPr lang="en-US" sz="13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(+2,1% vs guloso · +55% vs aleatório · 5 sementes) — vantagem cresce até +7% com mais capacidade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97280" y="2057400"/>
            <a:ext cx="9966960" cy="3794760"/>
          </a:xfrm>
          <a:prstGeom prst="roundRect">
            <a:avLst>
              <a:gd name="adj" fmla="val 241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C:/Users/dti-/Desktop/healthsense/assets/parte2/exp1_validaca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240280"/>
            <a:ext cx="96012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819095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8190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AMPLIAÇÃO OBRIGATÓRIA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 vs Memético: medir no eixo certo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geração o memético parece ganhar; por avaliações (o justo) o AG puro domina. Resultado honesto — ampliação cumprida.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97280" y="2057400"/>
            <a:ext cx="9966960" cy="3794760"/>
          </a:xfrm>
          <a:prstGeom prst="roundRect">
            <a:avLst>
              <a:gd name="adj" fmla="val 241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C:/Users/dti-/Desktop/healthsense/assets/parte2/exp2_ag_vs_memetic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194560"/>
            <a:ext cx="96012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989174" cy="329184"/>
          </a:xfrm>
          <a:prstGeom prst="roundRect">
            <a:avLst>
              <a:gd name="adj" fmla="val 50000"/>
            </a:avLst>
          </a:prstGeom>
          <a:solidFill>
            <a:srgbClr val="232A3D"/>
          </a:solidFill>
          <a:ln w="127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298917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PARTE 2 · EXTRA (FUZZY–EVOLUTIVA)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fuzzy não é decorativo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893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Trocar o fuzzy por um modelo linear muda 29/40 alocações e derruba o valor real: 9.747 → 3.484.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097280" y="2057400"/>
            <a:ext cx="9966960" cy="3794760"/>
          </a:xfrm>
          <a:prstGeom prst="roundRect">
            <a:avLst>
              <a:gd name="adj" fmla="val 2410"/>
            </a:avLst>
          </a:prstGeom>
          <a:solidFill>
            <a:srgbClr val="1A2030"/>
          </a:solidFill>
          <a:ln w="12700">
            <a:solidFill>
              <a:srgbClr val="2C3447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7" name="Image 0" descr="C:/Users/dti-/Desktop/healthsense/assets/parte2/exp4_fuzzy_vs_linea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194560"/>
            <a:ext cx="960120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6D4FD1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3657600"/>
            <a:ext cx="4572000" cy="4572000"/>
          </a:xfrm>
          <a:prstGeom prst="ellipse">
            <a:avLst/>
          </a:prstGeom>
          <a:solidFill>
            <a:srgbClr val="0E9C8A">
              <a:alpha val="1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8FAF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Conclusão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731520" y="201168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HealthSense une lógica fuzzy e computação evolutiva num produto coeso: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enxergar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saúde dos clientes e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agir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sobre ela de forma ótima.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77240" y="297180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Modelagem fuzzy coerente e explicável (32 regras, Mamdani, centróide).</a:t>
            </a:r>
            <a:endParaRPr lang="en-US" sz="15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Otimização evolutiva que supera heurísticas, validada com 5 sementes e métricas corretas.</a:t>
            </a:r>
            <a:endParaRPr lang="en-US" sz="15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Integração Fuzzy–Evolutiva como diferencial técnico (o fuzzy é a aptidão do AG).</a:t>
            </a:r>
            <a:endParaRPr lang="en-US" sz="1500" dirty="0"/>
          </a:p>
          <a:p>
            <a:pPr marL="177800" indent="-177800">
              <a:lnSpc>
                <a:spcPct val="10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C7D0D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Trabalhos futuros: múltiplas ações por conta, multiobjetivo, integração com CRM real.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54864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Obrigado!   ·   Perguntas?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2026-06-12T03:07:03Z</dcterms:created>
  <dcterms:modified xsi:type="dcterms:W3CDTF">2026-06-12T03:07:03Z</dcterms:modified>
</cp:coreProperties>
</file>