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6D4FD1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291840"/>
            <a:ext cx="4206240" cy="4206240"/>
          </a:xfrm>
          <a:prstGeom prst="ellipse">
            <a:avLst/>
          </a:prstGeom>
          <a:solidFill>
            <a:srgbClr val="0E9C8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CESUPA · INTELIGÊNCIA ARTIFICIAL E COMPUTACIONAL · 2026/1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HealthSense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49808" y="32918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Success para SaaS B2B, guiado por Inteligência Artificial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14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1 · Fuzzy (Parte 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411480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4114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2 · Evolutivo (Parte 2)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Prof. Daniel Leal Souza  ·  Equipe: [integrantes]  ·  Turma: [CC5MA / CC5NA]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48233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94823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GLOSSÁRIO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siglas e termos, em uma página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76672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914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B2B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854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por assinatura vendido para empresas (Software as a Service, Business to Business).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76672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914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Playbook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1854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"Jogada" pronta do time: reunião estratégica, treinamento, mutirão de suporte ou cobrança.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5376672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807208"/>
            <a:ext cx="73152" cy="914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9864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2095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Success Manager — quem cuida de manter e crescer os clientes (o "personal trainer das contas").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807208"/>
            <a:ext cx="5376672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2807208"/>
            <a:ext cx="73152" cy="9144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89864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2095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Health Score — nota de 0 a 100 da saúde do cliente. É a saída do Módulo 1 (fuzzy).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31336"/>
            <a:ext cx="5376672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831336"/>
            <a:ext cx="73152" cy="914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2277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2336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Cancelamento da assinatura pelo cliente — exatamente o que o time quer evitar.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831336"/>
            <a:ext cx="5376672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3831336"/>
            <a:ext cx="73152" cy="9144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92277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42336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Promoter Score — nota de satisfação do cliente, de 0 a 10 (detrator a promotor).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855464"/>
            <a:ext cx="5376672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855464"/>
            <a:ext cx="73152" cy="914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94690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7240" y="5257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Recurring Revenue — quanto o cliente paga por mês; MRR alto vale mais a pena salvar.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4855464"/>
            <a:ext cx="5376672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4855464"/>
            <a:ext cx="73152" cy="9144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94690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2240" y="5257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 Genético — o "planejador inteligente" que monta o melhor plano de ação (Módulo 2).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3194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6319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Success vive de reter e expandir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400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B2B vive de receita recorrente (MRR): reter e expandir vale mais que adquirir.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CSM gerencia carteiras grandes — o recurso escasso é o tempo do time.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Decisões diárias: quem está em risco de churn? quem pode crescer? onde agir primeiro?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sinais são imprecisos e graduais — a saúde de um cliente não é 'sim ou não'.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4297680" cy="3931920"/>
          </a:xfrm>
          <a:prstGeom prst="roundRect">
            <a:avLst>
              <a:gd name="adj" fmla="val 2326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0" y="1828800"/>
            <a:ext cx="73152" cy="39319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Inteligência Artificial?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0" y="260604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 Fuzzy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lida com gradação e incerteza — traduz sinais difusos em um score interpretável.
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Computação Evolutiva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otimiza decisões sob restrição — onde investir as horas para o maior retorno.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43507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54350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DO PRODUTO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produto, dois módulos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2286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Módulo 1 — Customer Health Score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Fuzzy Mamdani. Pontua a saúde de cada cliente (0–100) a partir de 5 sinais, com 32 regras interpretáveis.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Responde: quão saudável está cada cliente?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783080"/>
            <a:ext cx="73152" cy="22860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65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🧬  Módulo 2 — Allocator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 Genético. Decide qual CSM atende qual cliente com qual playbook, para maximizar a receita retida/expandida.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Responde: com horas limitadas, qual o melhor plano de ação?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6634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8893A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663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Sinais do cliente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49040" y="46634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4663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CHS (fuzzy)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675120" y="46634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4663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Allocator (AG)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01200" y="46634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0" y="4663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Plano de ação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conexão: o Allocator usa o motor fuzzy como função de aptidão — pergunta "quanto esta ação melhora a saúde?" e o fuzzy responde.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743200"/>
            <a:ext cx="5486400" cy="5486400"/>
          </a:xfrm>
          <a:prstGeom prst="ellipse">
            <a:avLst/>
          </a:prstGeom>
          <a:solidFill>
            <a:srgbClr val="6D4FD1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Health Score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Controle Fuzzy (Mamdani)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13586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71358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1 · CONTEXTO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o Customer Health Score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indicador de 0 a 100 que resume a saúde de uma conta numa só leitura.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Usado por CSMs para priorizar a carteira: quem salvar, quem expandir, quem manter.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Tradicionalmente é uma soma de pesos fixos — frágil e arbitrária.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Aqui ele é um sistema fuzzy: combina os sinais como um especialista raciocinaria.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4297680" cy="3931920"/>
          </a:xfrm>
          <a:prstGeom prst="roundRect">
            <a:avLst>
              <a:gd name="adj" fmla="val 2326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0" y="1828800"/>
            <a:ext cx="73152" cy="39319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fuzzy e não regras rígidas?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35240" y="26517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Graus de verdade (0 a 1), não só sim/não.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Transições suaves: 30 ≈ 31 dias de atraso.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 em linguagem natural.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Explicável: cada score se justifica.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98625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79862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1 · MODELAGEM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entradas, 1 saída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62179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117"/>
                          </a:solidFill>
                        </a:rPr>
                        <a:t>Variável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117"/>
                          </a:solidFill>
                        </a:rPr>
                        <a:t>Universo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117"/>
                          </a:solidFill>
                        </a:rPr>
                        <a:t>Termos linguísticos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8FAFC"/>
                          </a:solidFill>
                        </a:rPr>
                        <a:t>Engajamento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</a:rPr>
                        <a:t>0–100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</a:rPr>
                        <a:t>Baixo · Moderado · Alto · Muito Alto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8FAFC"/>
                          </a:solidFill>
                        </a:rPr>
                        <a:t>Volume de suporte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</a:rPr>
                        <a:t>0–30 tickets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</a:rPr>
                        <a:t>Saudável · Atenção · Alto · Crítico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8FAFC"/>
                          </a:solidFill>
                        </a:rPr>
                        <a:t>Satisfação (NPS)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</a:rPr>
                        <a:t>0–10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</a:rPr>
                        <a:t>Detrator · Neutro · Promotor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8FAFC"/>
                          </a:solidFill>
                        </a:rPr>
                        <a:t>Saúde financeira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</a:rPr>
                        <a:t>0–90 dias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</a:rPr>
                        <a:t>Em dia · Atraso leve · Atraso grave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8FAFC"/>
                          </a:solidFill>
                        </a:rPr>
                        <a:t>Tenure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</a:rPr>
                        <a:t>0–60 meses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7D0DE"/>
                          </a:solidFill>
                        </a:rPr>
                        <a:t>Novo · Estabelecido · Veterano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A78BFA"/>
                          </a:solidFill>
                        </a:rPr>
                        <a:t>Saída: CHS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8BFA"/>
                          </a:solidFill>
                        </a:rPr>
                        <a:t>0–100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8BFA"/>
                          </a:solidFill>
                        </a:rPr>
                        <a:t>Crítico · Em Risco · Atenção · Saudável · Promotor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variável tem papel explícito; os termos linguísticos são os conjuntos fuzzy de cada uma.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98625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79862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1 · MODELAGEM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Funções de pertinência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Trapezoidais nos extremos (saturam) · triangulares no meio · gaussianas na saída (centróide estável).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623560" cy="3749040"/>
          </a:xfrm>
          <a:prstGeom prst="roundRect">
            <a:avLst>
              <a:gd name="adj" fmla="val 2439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C:/Users/dti-/Desktop/healthsense/assets/parte1/mf_plots/engajamen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48840"/>
            <a:ext cx="534924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1965960"/>
            <a:ext cx="5623560" cy="3749040"/>
          </a:xfrm>
          <a:prstGeom prst="roundRect">
            <a:avLst>
              <a:gd name="adj" fmla="val 2439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1" descr="C:/Users/dti-/Desktop/healthsense/assets/parte1/mf_plots/ch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2148840"/>
            <a:ext cx="534924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83664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1 · INFERÊNCIA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o sistema decide (Mamdani)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73152" cy="17373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Fuzzificação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→ graus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517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43784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43784" y="2103120"/>
            <a:ext cx="73152" cy="17373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233172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2384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26664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26664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= mínimo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55464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47488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47488" y="2103120"/>
            <a:ext cx="73152" cy="17373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76088" y="233172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76088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30368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Implicação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30368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recorta saída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59168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251192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51192" y="2103120"/>
            <a:ext cx="73152" cy="17373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79792" y="233172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9792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34072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Agregação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34072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= máximo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262872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454896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454896" y="2103120"/>
            <a:ext cx="73152" cy="17373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83496" y="233172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83496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37776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Centróide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37776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CHS final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4297680"/>
            <a:ext cx="10927080" cy="1371600"/>
          </a:xfrm>
          <a:prstGeom prst="roundRect">
            <a:avLst>
              <a:gd name="adj" fmla="val 6667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6868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32 regras · 7 categorias: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6868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Crítico (4)   Em Risco (6)   Atenção (6)   Saudável (5)   Promotor (4)   </a:t>
            </a:r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Conflito (3) </a:t>
            </a:r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Baseline (4)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6868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Conflito = exceções (ex.: power user inadimplente é rebaixado) · Baseline = cobertura total do espaço.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53742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05374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1 · EXEMPLO REAL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Pontuando um cliente, passo a passo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749040" cy="3657600"/>
          </a:xfrm>
          <a:prstGeom prst="roundRect">
            <a:avLst>
              <a:gd name="adj" fmla="val 25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36576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Entrada (sinais)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Engajamento: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Suporte: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tickets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NPS: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(detrator)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Atraso: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dias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Tenure: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meses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434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46320" y="1920240"/>
            <a:ext cx="3749040" cy="3657600"/>
          </a:xfrm>
          <a:prstGeom prst="roundRect">
            <a:avLst>
              <a:gd name="adj" fmla="val 25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920240"/>
            <a:ext cx="73152" cy="36576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Regras que disparam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26060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R8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[Risco]  grau 0,50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engaj. moderado + detrator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R6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[Risco]  grau 0,40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detrator + suporte alto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R30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[Baseline] grau 0,50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41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0" y="1920240"/>
            <a:ext cx="2468880" cy="3657600"/>
          </a:xfrm>
          <a:prstGeom prst="roundRect">
            <a:avLst>
              <a:gd name="adj" fmla="val 3704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0" y="1920240"/>
            <a:ext cx="73152" cy="36576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Saída (centróide)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0" y="27432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914400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55480" y="429768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4297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Atenção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78938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4789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1 · VALIDAÇÃO + EXTRA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Sensibilidade (ampliação) e PSO (extra)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cenários + 16 testes automatizados. Ampliação: sensibilidade das MFs · Extra: PSO calibra os parâmetros.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623560" cy="3749040"/>
          </a:xfrm>
          <a:prstGeom prst="roundRect">
            <a:avLst>
              <a:gd name="adj" fmla="val 2439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C:/Users/dti-/Desktop/healthsense/assets/parte1/sensibilida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48840"/>
            <a:ext cx="534924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1965960"/>
            <a:ext cx="5623560" cy="3749040"/>
          </a:xfrm>
          <a:prstGeom prst="roundRect">
            <a:avLst>
              <a:gd name="adj" fmla="val 2439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1" descr="C:/Users/dti-/Desktop/healthsense/assets/parte1/pso_antes_depoi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2148840"/>
            <a:ext cx="534924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743200"/>
            <a:ext cx="5486400" cy="5486400"/>
          </a:xfrm>
          <a:prstGeom prst="ellipse">
            <a:avLst/>
          </a:prstGeom>
          <a:solidFill>
            <a:srgbClr val="0E9C8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 Genético com aptidão fuzzy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13586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71358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 · CONTEXTO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problema de alocação do time de 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time tem capacidade limitada: cada CSM tem um orçamento de horas por ciclo.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cliente pode receber um playbook (intervenção) — ou nenhuma ação.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CSM tem uma especialidade que muda a eficácia do playbook.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Objetivo: escolher o conjunto de ações que maximiza a receita retida/expandida.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4297680" cy="3931920"/>
          </a:xfrm>
          <a:prstGeom prst="roundRect">
            <a:avLst>
              <a:gd name="adj" fmla="val 2326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0" y="1828800"/>
            <a:ext cx="73152" cy="39319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ingredientes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35240" y="26517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clientes (saúde + MRR)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CSMs (com especialidade)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playbooks (custo em horas)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 h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capacidade total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35240" y="5166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Capacidade &lt; demanda → é preciso escolher.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83664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 · FORMULAÇÃO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Modelagem: um problema de atribuição (GAP)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22860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Variáveis de decisão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cada cliente: o par (CSM, playbook) ou "nenhuma ação".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920240"/>
            <a:ext cx="73152" cy="2286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148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Função objetivo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7432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Maximizar Σ MRR × (ΔCHS/100). O ΔCHS vem do motor fuzzy.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920240"/>
            <a:ext cx="73152" cy="22860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48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Restrições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75320" y="27432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Soma de horas de cada CSM ≤ seu orçamento (reparo garante).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617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NP-difícil?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26^40 ≈ 10^56 combinações, múltiplas capacidades acopladas e objetivo fuzzy não-linear → programação linear não serve. O Algoritmo Genético navega esse espaço.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38782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13878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 · COMO FUNCIONA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solução = um plano (o cromossomo)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0B0E14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posição = um cliente   ·   o valor do gene = a ação escolhida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[ 1,  1,  15,  0,  0,  0,  7,  24,  6,  21,  16,  12, … ]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730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 =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0416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(Onboarding) · Onboarding Refresher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361188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3730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 = 15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40416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Carla (Retenção) · Billing &amp; Renewal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361188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3730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 = 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40416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Nenhuma ação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754880"/>
            <a:ext cx="73152" cy="9144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de valor: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"Em risco-014" (CHS 34,7) + Executive Business Review pelo Bruno (Retenção, eficácia ×1,5) → CHS previsto +15,3 → valor = MRR × 15,3/100 =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R$ 837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38782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13878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 · COMO FUNCIONA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o AG evolui o plano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73152" cy="13716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957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População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8529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planos aleatórios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21992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50592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2194560"/>
            <a:ext cx="73152" cy="13716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23957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Avaliação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42032" y="28529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= fuzzy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23944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52544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52544" y="2194560"/>
            <a:ext cx="73152" cy="13716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23957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43984" y="28529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torneio (k=3)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25896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54496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54496" y="2194560"/>
            <a:ext cx="73152" cy="13716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23957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Crossover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45936" y="28529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uniforme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27848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156448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6448" y="2194560"/>
            <a:ext cx="73152" cy="13716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23957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Mutação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47888" y="28529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 de ação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298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0058400" y="219456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32A3D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58400" y="2194560"/>
            <a:ext cx="73152" cy="13716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49840" y="23957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Reparo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149840" y="285292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respeita horas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↻  repete por gerações até estabilizar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4297680"/>
            <a:ext cx="73152" cy="13716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480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Neste caso: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AG convergiu em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121 gerações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gerando um plano que atende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dos 40 clientes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soma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R$ 9.747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receita esperada — sem estourar o orçamento de nenhum CSM.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23821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2238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 · RESULTADO REAL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plano de ação que o AG gera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4937760"/>
                <a:gridCol w="914400"/>
                <a:gridCol w="91440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</a:rPr>
                        <a:t>Cliente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</a:rPr>
                        <a:t>CHS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</a:rPr>
                        <a:t>Ação (CSM → Playbook)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</a:rPr>
                        <a:t>ΔCHS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</a:rPr>
                        <a:t>Horas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Em risco-014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34,7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Bruno (Retenção) → Executive Business Review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4D399"/>
                          </a:solidFill>
                        </a:rPr>
                        <a:t>+15,3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8h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R$ 837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Fronteira-017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43,2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Ana (Onboarding) → Onboarding Refresher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4D399"/>
                          </a:solidFill>
                        </a:rPr>
                        <a:t>+26,3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4h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R$ 712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Em risco-008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31,8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Elena (Adoção) → Adoption Coaching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4D399"/>
                          </a:solidFill>
                        </a:rPr>
                        <a:t>+18,2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5h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R$ 687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Em risco-012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39,0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Carla (Retenção) → Executive Business Review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4D399"/>
                          </a:solidFill>
                        </a:rPr>
                        <a:t>+11,0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8h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R$ 596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Em risco-010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36,7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Elena (Adoção) → Onboarding Refresher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4D399"/>
                          </a:solidFill>
                        </a:rPr>
                        <a:t>+12,2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</a:rPr>
                        <a:t>4h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R$ 516</a:t>
                      </a:r>
                      <a:endParaRPr lang="en-US" sz="115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estratégia que emergiu: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AG concentra horas em contas Em Risco e de Fronteira de alto MRR (onde o ΔCHS é maior) e roteia cada playbook ao CSM da especialidade certa.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83664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 · RESULTADOS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AG supera os métodos simples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 9.718  </a:t>
            </a:r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(+2,1% vs guloso · +55% vs aleatório · 5 sementes) — vantagem cresce até +7% com mais capacidade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2057400"/>
            <a:ext cx="9966960" cy="3794760"/>
          </a:xfrm>
          <a:prstGeom prst="roundRect">
            <a:avLst>
              <a:gd name="adj" fmla="val 2410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C:/Users/dti-/Desktop/healthsense/assets/parte2/exp1_validaca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2240280"/>
            <a:ext cx="96012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819095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8190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 · AMPLIAÇÃO OBRIGATÓRIA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 vs Memético: medir no eixo certo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geração o memético parece ganhar; por avaliações (o justo) o AG puro domina. Resultado honesto — ampliação cumprida.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97280" y="2057400"/>
            <a:ext cx="9966960" cy="3794760"/>
          </a:xfrm>
          <a:prstGeom prst="roundRect">
            <a:avLst>
              <a:gd name="adj" fmla="val 2410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C:/Users/dti-/Desktop/healthsense/assets/parte2/exp2_ag_vs_memeti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2194560"/>
            <a:ext cx="960120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89174" cy="329184"/>
          </a:xfrm>
          <a:prstGeom prst="roundRect">
            <a:avLst>
              <a:gd name="adj" fmla="val 50000"/>
            </a:avLst>
          </a:prstGeom>
          <a:solidFill>
            <a:srgbClr val="232A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9891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 · EXTRA (FUZZY–EVOLUTIVA)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fuzzy não é decorativo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893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Trocar o fuzzy por um modelo linear muda 29/40 alocações e derruba o valor real: 9.747 → 3.484.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97280" y="2057400"/>
            <a:ext cx="9966960" cy="3794760"/>
          </a:xfrm>
          <a:prstGeom prst="roundRect">
            <a:avLst>
              <a:gd name="adj" fmla="val 2410"/>
            </a:avLst>
          </a:prstGeom>
          <a:solidFill>
            <a:srgbClr val="1A2030"/>
          </a:solidFill>
          <a:ln w="12700">
            <a:solidFill>
              <a:srgbClr val="2C34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C:/Users/dti-/Desktop/healthsense/assets/parte2/exp4_fuzzy_vs_line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2194560"/>
            <a:ext cx="960120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6D4FD1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0E9C8A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HealthSense une lógica fuzzy e computação evolutiva num produto coeso: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enxergar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saúde dos clientes e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agir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sobre ela de forma ótima.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Modelagem fuzzy coerente e explicável (32 regras, Mamdani, centróide).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Otimização evolutiva que supera heurísticas, validada com 5 sementes e métricas corretas.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Fuzzy–Evolutiva como diferencial técnico (o fuzzy é a aptidão do AG).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7D0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Trabalhos futuros: múltiplas ações por conta, multiobjetivo, integração com CRM real.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Obrigado!   ·   Perguntas?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2026-06-02T01:55:02Z</dcterms:created>
  <dcterms:modified xsi:type="dcterms:W3CDTF">2026-06-02T01:55:02Z</dcterms:modified>
</cp:coreProperties>
</file>